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y="5143500" cx="9144000"/>
  <p:notesSz cx="6858000" cy="9144000"/>
  <p:embeddedFontLst>
    <p:embeddedFont>
      <p:font typeface="Lato Light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19ACC65-C517-44EE-8EBE-4630964B7F5D}">
  <a:tblStyle styleId="{F19ACC65-C517-44EE-8EBE-4630964B7F5D}" styleName="Table_0">
    <a:wholeTbl>
      <a:tcTxStyle b="off" i="off">
        <a:font>
          <a:latin typeface="等线"/>
          <a:ea typeface="等线"/>
          <a:cs typeface="等线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7E7"/>
          </a:solidFill>
        </a:fill>
      </a:tcStyle>
    </a:wholeTbl>
    <a:band1H>
      <a:tcTxStyle/>
      <a:tcStyle>
        <a:fill>
          <a:solidFill>
            <a:srgbClr val="CBCBCB"/>
          </a:solidFill>
        </a:fill>
      </a:tcStyle>
    </a:band1H>
    <a:band2H>
      <a:tcTxStyle/>
    </a:band2H>
    <a:band1V>
      <a:tcTxStyle/>
      <a:tcStyle>
        <a:fill>
          <a:solidFill>
            <a:srgbClr val="CBCBCB"/>
          </a:solidFill>
        </a:fill>
      </a:tcStyle>
    </a:band1V>
    <a:band2V>
      <a:tcTxStyle/>
    </a:band2V>
    <a:lastCol>
      <a:tcTxStyle b="on" i="off">
        <a:font>
          <a:latin typeface="等线"/>
          <a:ea typeface="等线"/>
          <a:cs typeface="等线"/>
        </a:font>
        <a:schemeClr val="lt1"/>
      </a:tcTxStyle>
      <a:tcStyle>
        <a:fill>
          <a:solidFill>
            <a:schemeClr val="dk1"/>
          </a:solidFill>
        </a:fill>
      </a:tcStyle>
    </a:lastCol>
    <a:firstCol>
      <a:tcTxStyle b="on" i="off">
        <a:font>
          <a:latin typeface="等线"/>
          <a:ea typeface="等线"/>
          <a:cs typeface="等线"/>
        </a:font>
        <a:schemeClr val="lt1"/>
      </a:tcTxStyle>
      <a:tcStyle>
        <a:fill>
          <a:solidFill>
            <a:schemeClr val="dk1"/>
          </a:solidFill>
        </a:fill>
      </a:tcStyle>
    </a:firstCol>
    <a:lastRow>
      <a:tcTxStyle b="on" i="off">
        <a:font>
          <a:latin typeface="等线"/>
          <a:ea typeface="等线"/>
          <a:cs typeface="等线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dk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等线"/>
          <a:ea typeface="等线"/>
          <a:cs typeface="等线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dk1"/>
          </a:solidFill>
        </a:fill>
      </a:tcStyle>
    </a:firstRow>
    <a:neCell>
      <a:tcTxStyle/>
    </a:neCell>
    <a:nwCell>
      <a:tcTxStyle/>
    </a:nwCell>
  </a:tblStyle>
  <a:tblStyle styleId="{65909430-6AD3-485F-8A6D-33503A73587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Light-bold.fntdata"/><Relationship Id="rId25" Type="http://schemas.openxmlformats.org/officeDocument/2006/relationships/font" Target="fonts/LatoLight-regular.fntdata"/><Relationship Id="rId28" Type="http://schemas.openxmlformats.org/officeDocument/2006/relationships/font" Target="fonts/LatoLight-boldItalic.fntdata"/><Relationship Id="rId27" Type="http://schemas.openxmlformats.org/officeDocument/2006/relationships/font" Target="fonts/LatoLigh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6279cf0b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g3f6279cf0b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g3f6279cf0bc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631aab82c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g3f631aab82c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631aab82c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g3f631aab82c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631aab82c_0_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g3f631aab82c_0_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f6279cf0bc_0_1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3f6279cf0bc_0_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f6279cf0bc_0_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17" name="Google Shape;117;g3f6279cf0bc_0_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f6279cf0bc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f6279cf0bc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f6279cf0bc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g3f6279cf0bc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6279cf0bc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f6279cf0bc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f6279cf0bc_0_8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f6279cf0bc_0_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6279cf0bc_0_1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g3f6279cf0bc_0_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f639854b6d_2_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g3f639854b6d_2_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2eef4383387846f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2eef4383387846f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f631aab82c_2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f631aab82c_2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f631aab82c_2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f631aab82c_2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3f631aab82c_2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3f631aab82c_2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3f6291cfbd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3f6291cfbd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3f6279cf0bc_0_1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g3f6279cf0bc_0_11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f6279cf0bc_0_11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3.png"/><Relationship Id="rId6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5.png"/><Relationship Id="rId6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8.png"/><Relationship Id="rId5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blogs.cityfutures.unsw.edu.au/news/designing-cities-neurodiversity-why-we-need-inclusive-public-open-spaces" TargetMode="External"/><Relationship Id="rId4" Type="http://schemas.openxmlformats.org/officeDocument/2006/relationships/hyperlink" Target="https://www.architectureanddesign.com.au/editorial/industry-news/designing-cities-for-neurodivergent-people-makes-urban-life-better-for-everyone" TargetMode="External"/><Relationship Id="rId5" Type="http://schemas.openxmlformats.org/officeDocument/2006/relationships/hyperlink" Target="https://hdsunflower.com/au/insights/post/metro-australia-launch-the-hidden-disabilities-sunflower" TargetMode="Externa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Google Shape;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914400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3"/>
          <p:cNvSpPr txBox="1"/>
          <p:nvPr/>
        </p:nvSpPr>
        <p:spPr>
          <a:xfrm>
            <a:off x="969379" y="1753567"/>
            <a:ext cx="70467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3000" u="none" cap="none" strike="noStrik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Onboarding Presentation</a:t>
            </a:r>
            <a:endParaRPr b="1" sz="3000">
              <a:solidFill>
                <a:srgbClr val="3B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1036959" y="3062347"/>
            <a:ext cx="11517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58" name="Google Shape;58;p13"/>
          <p:cNvSpPr txBox="1"/>
          <p:nvPr/>
        </p:nvSpPr>
        <p:spPr>
          <a:xfrm>
            <a:off x="1150975" y="3052061"/>
            <a:ext cx="959400" cy="2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400" u="none" cap="none" strike="noStrike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TE 19</a:t>
            </a:r>
            <a:endParaRPr b="1" sz="1400" u="none" cap="none" strike="noStrike">
              <a:solidFill>
                <a:srgbClr val="3B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31F3433A9E648677F205BBC2E6C6412E52871A2030262A6C06551C13AEECDFFF73B0D86259B258493C06EC752E5EE64E758FE1685DF6C47C4B64B4CD195F3D53" id="59" name="Google Shape;59;p13"/>
          <p:cNvSpPr/>
          <p:nvPr/>
        </p:nvSpPr>
        <p:spPr>
          <a:xfrm>
            <a:off x="8694830" y="4573263"/>
            <a:ext cx="144371" cy="149030"/>
          </a:xfrm>
          <a:custGeom>
            <a:rect b="b" l="l" r="r" t="t"/>
            <a:pathLst>
              <a:path extrusionOk="0" h="472" w="458">
                <a:moveTo>
                  <a:pt x="457" y="221"/>
                </a:moveTo>
                <a:lnTo>
                  <a:pt x="457" y="221"/>
                </a:lnTo>
                <a:cubicBezTo>
                  <a:pt x="236" y="15"/>
                  <a:pt x="236" y="15"/>
                  <a:pt x="236" y="15"/>
                </a:cubicBezTo>
                <a:cubicBezTo>
                  <a:pt x="236" y="0"/>
                  <a:pt x="221" y="0"/>
                  <a:pt x="206" y="15"/>
                </a:cubicBezTo>
                <a:cubicBezTo>
                  <a:pt x="206" y="15"/>
                  <a:pt x="206" y="30"/>
                  <a:pt x="206" y="44"/>
                </a:cubicBezTo>
                <a:cubicBezTo>
                  <a:pt x="412" y="235"/>
                  <a:pt x="412" y="235"/>
                  <a:pt x="412" y="235"/>
                </a:cubicBezTo>
                <a:cubicBezTo>
                  <a:pt x="206" y="442"/>
                  <a:pt x="206" y="442"/>
                  <a:pt x="206" y="442"/>
                </a:cubicBezTo>
                <a:cubicBezTo>
                  <a:pt x="206" y="456"/>
                  <a:pt x="206" y="456"/>
                  <a:pt x="206" y="471"/>
                </a:cubicBezTo>
                <a:cubicBezTo>
                  <a:pt x="221" y="471"/>
                  <a:pt x="236" y="471"/>
                  <a:pt x="236" y="471"/>
                </a:cubicBezTo>
                <a:cubicBezTo>
                  <a:pt x="457" y="250"/>
                  <a:pt x="457" y="250"/>
                  <a:pt x="457" y="250"/>
                </a:cubicBezTo>
                <a:cubicBezTo>
                  <a:pt x="457" y="250"/>
                  <a:pt x="457" y="250"/>
                  <a:pt x="457" y="235"/>
                </a:cubicBezTo>
                <a:cubicBezTo>
                  <a:pt x="457" y="235"/>
                  <a:pt x="457" y="235"/>
                  <a:pt x="457" y="221"/>
                </a:cubicBezTo>
                <a:close/>
                <a:moveTo>
                  <a:pt x="221" y="235"/>
                </a:moveTo>
                <a:lnTo>
                  <a:pt x="221" y="235"/>
                </a:lnTo>
                <a:cubicBezTo>
                  <a:pt x="221" y="235"/>
                  <a:pt x="221" y="235"/>
                  <a:pt x="221" y="221"/>
                </a:cubicBezTo>
                <a:cubicBezTo>
                  <a:pt x="44" y="44"/>
                  <a:pt x="44" y="44"/>
                  <a:pt x="44" y="44"/>
                </a:cubicBezTo>
                <a:cubicBezTo>
                  <a:pt x="30" y="44"/>
                  <a:pt x="15" y="44"/>
                  <a:pt x="15" y="44"/>
                </a:cubicBezTo>
                <a:cubicBezTo>
                  <a:pt x="0" y="59"/>
                  <a:pt x="0" y="74"/>
                  <a:pt x="15" y="74"/>
                </a:cubicBezTo>
                <a:cubicBezTo>
                  <a:pt x="177" y="235"/>
                  <a:pt x="177" y="235"/>
                  <a:pt x="177" y="235"/>
                </a:cubicBezTo>
                <a:cubicBezTo>
                  <a:pt x="15" y="397"/>
                  <a:pt x="15" y="397"/>
                  <a:pt x="15" y="397"/>
                </a:cubicBezTo>
                <a:cubicBezTo>
                  <a:pt x="0" y="412"/>
                  <a:pt x="0" y="427"/>
                  <a:pt x="15" y="427"/>
                </a:cubicBezTo>
                <a:cubicBezTo>
                  <a:pt x="15" y="442"/>
                  <a:pt x="30" y="442"/>
                  <a:pt x="44" y="427"/>
                </a:cubicBezTo>
                <a:cubicBezTo>
                  <a:pt x="221" y="250"/>
                  <a:pt x="221" y="250"/>
                  <a:pt x="221" y="250"/>
                </a:cubicBezTo>
                <a:cubicBezTo>
                  <a:pt x="221" y="250"/>
                  <a:pt x="221" y="250"/>
                  <a:pt x="221" y="235"/>
                </a:cubicBezTo>
                <a:close/>
              </a:path>
            </a:pathLst>
          </a:custGeom>
          <a:solidFill>
            <a:srgbClr val="3B3B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91969B"/>
              </a:solidFill>
              <a:latin typeface="Lato Light"/>
              <a:ea typeface="Lato Light"/>
              <a:cs typeface="Lato Light"/>
              <a:sym typeface="Lato Light"/>
            </a:endParaRPr>
          </a:p>
        </p:txBody>
      </p:sp>
      <p:sp>
        <p:nvSpPr>
          <p:cNvPr id="60" name="Google Shape;60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65" name="Google Shape;65;p14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66" name="Google Shape;66;p14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4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68" name="Google Shape;68;p14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69" name="Google Shape;69;p14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71" name="Google Shape;71;p14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</a:rPr>
              <a:t>  Problem Statement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2" name="Google Shape;72;p14" title="Screenshot 2026-08-03 at 10.07.5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275" y="1054450"/>
            <a:ext cx="8767442" cy="26071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78" name="Google Shape;78;p15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79" name="Google Shape;79;p15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5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81" name="Google Shape;81;p15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82" name="Google Shape;82;p15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5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84" name="Google Shape;84;p15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</a:rPr>
              <a:t>  Persona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5" title="Screenshot 2026-08-03 at 10.00.06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25" y="756750"/>
            <a:ext cx="7231549" cy="407127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91" name="Google Shape;91;p16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92" name="Google Shape;92;p16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6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94" name="Google Shape;94;p16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95" name="Google Shape;95;p16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6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97" name="Google Shape;97;p16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</a:rPr>
              <a:t>  Empathy Map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16" title="Screenshot 2026-08-03 at 9.56.35 am.png"/>
          <p:cNvPicPr preferRelativeResize="0"/>
          <p:nvPr/>
        </p:nvPicPr>
        <p:blipFill rotWithShape="1">
          <a:blip r:embed="rId3">
            <a:alphaModFix/>
          </a:blip>
          <a:srcRect b="0" l="1303" r="0" t="0"/>
          <a:stretch/>
        </p:blipFill>
        <p:spPr>
          <a:xfrm>
            <a:off x="1854625" y="720500"/>
            <a:ext cx="5440851" cy="411462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04" name="Google Shape;104;p17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105" name="Google Shape;105;p17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07" name="Google Shape;107;p17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108" name="Google Shape;108;p17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0" name="Google Shape;110;p17"/>
          <p:cNvSpPr/>
          <p:nvPr/>
        </p:nvSpPr>
        <p:spPr>
          <a:xfrm>
            <a:off x="377178" y="1028411"/>
            <a:ext cx="98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11" name="Google Shape;111;p17"/>
          <p:cNvSpPr txBox="1"/>
          <p:nvPr/>
        </p:nvSpPr>
        <p:spPr>
          <a:xfrm>
            <a:off x="424225" y="1004277"/>
            <a:ext cx="959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Epic</a:t>
            </a:r>
            <a:endParaRPr sz="1100"/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12" name="Google Shape;112;p17"/>
          <p:cNvSpPr/>
          <p:nvPr/>
        </p:nvSpPr>
        <p:spPr>
          <a:xfrm>
            <a:off x="297252" y="1394562"/>
            <a:ext cx="8599800" cy="26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Epic 1: Sensory-Aware Route Planning &amp; Real-Time Navigation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Description：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Enable neurodivergent and sensory-sensitive adults to independently navigate Melbourne CBD using routes optimized for lower sensory load rather than shortest travel time.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Benefits: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exposure to high-density pedestrian areas.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confidence in independent travel.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route completion rates without sensory distress.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adoption of sensory-friendly route recommendations.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13" name="Google Shape;113;p17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for the Iteration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19" name="Google Shape;119;p18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for the Iteration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20" name="Google Shape;120;p18"/>
          <p:cNvSpPr/>
          <p:nvPr/>
        </p:nvSpPr>
        <p:spPr>
          <a:xfrm>
            <a:off x="383615" y="650351"/>
            <a:ext cx="6028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Planned </a:t>
            </a:r>
            <a:r>
              <a:rPr lang="en-GB">
                <a:solidFill>
                  <a:schemeClr val="dk1"/>
                </a:solidFill>
              </a:rPr>
              <a:t>US, Features, AC, 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lang="en-GB">
                <a:solidFill>
                  <a:schemeClr val="dk1"/>
                </a:solidFill>
              </a:rPr>
              <a:t>P</a:t>
            </a:r>
            <a:r>
              <a:rPr lang="en-GB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rototype overview</a:t>
            </a:r>
            <a:endParaRPr sz="1100"/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21" name="Google Shape;121;p18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122" name="Google Shape;122;p18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8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4" name="Google Shape;124;p18"/>
          <p:cNvSpPr/>
          <p:nvPr/>
        </p:nvSpPr>
        <p:spPr>
          <a:xfrm>
            <a:off x="186617" y="1182883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25" name="Google Shape;125;p18"/>
          <p:cNvSpPr txBox="1"/>
          <p:nvPr/>
        </p:nvSpPr>
        <p:spPr>
          <a:xfrm>
            <a:off x="384764" y="1179410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sz="1100"/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26" name="Google Shape;126;p18"/>
          <p:cNvSpPr/>
          <p:nvPr/>
        </p:nvSpPr>
        <p:spPr>
          <a:xfrm>
            <a:off x="142504" y="1484885"/>
            <a:ext cx="3750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 1.1 As a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sensory-sensitive commuter,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want to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see a sensory indicator (High or Low) for different routes,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can choose the path that feels safest and least overwhelming.</a:t>
            </a:r>
            <a:endParaRPr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27" name="Google Shape;127;p18"/>
          <p:cNvSpPr txBox="1"/>
          <p:nvPr/>
        </p:nvSpPr>
        <p:spPr>
          <a:xfrm>
            <a:off x="4766752" y="588843"/>
            <a:ext cx="1905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 u="none" cap="none" strike="noStrike">
              <a:solidFill>
                <a:srgbClr val="3B3B3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161903" y="2489566"/>
            <a:ext cx="21354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29" name="Google Shape;129;p18"/>
          <p:cNvSpPr txBox="1"/>
          <p:nvPr/>
        </p:nvSpPr>
        <p:spPr>
          <a:xfrm>
            <a:off x="360050" y="2494995"/>
            <a:ext cx="1788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sz="1100"/>
          </a:p>
        </p:txBody>
      </p:sp>
      <p:graphicFrame>
        <p:nvGraphicFramePr>
          <p:cNvPr id="130" name="Google Shape;130;p18"/>
          <p:cNvGraphicFramePr/>
          <p:nvPr/>
        </p:nvGraphicFramePr>
        <p:xfrm>
          <a:off x="124691" y="2863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{F19ACC65-C517-44EE-8EBE-4630964B7F5D}</a:tableStyleId>
              </a:tblPr>
              <a:tblGrid>
                <a:gridCol w="356275"/>
                <a:gridCol w="1188775"/>
                <a:gridCol w="1295725"/>
                <a:gridCol w="15548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 u="none" cap="none" strike="noStrike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1.1.1</a:t>
                      </a:r>
                      <a:endParaRPr sz="7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 start point and destination are entered.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searches for routes.</a:t>
                      </a:r>
                      <a:endParaRPr sz="11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Two to three route options are displayed.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1.1.2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Route options are available.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comparison results are shown.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Each route displays time, distance and sensory scores.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1.1.3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Sensory scores are calculated.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views the routes.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Each route shows a </a:t>
                      </a:r>
                      <a:r>
                        <a:rPr b="1"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 or Low </a:t>
                      </a: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sensory indicator.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1.1.4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Routes are compared.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Results are presented.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Routes are labelled as Lowest Sensory Load, Balanced or Fastest.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1" name="Google Shape;13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05341" y="1570784"/>
            <a:ext cx="1523716" cy="3355178"/>
          </a:xfrm>
          <a:prstGeom prst="rect">
            <a:avLst/>
          </a:prstGeom>
          <a:noFill/>
          <a:ln cap="flat" cmpd="sng" w="62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32" name="Google Shape;13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3400" y="1567714"/>
            <a:ext cx="1523707" cy="3356911"/>
          </a:xfrm>
          <a:prstGeom prst="rect">
            <a:avLst/>
          </a:prstGeom>
          <a:solidFill>
            <a:schemeClr val="lt1">
              <a:alpha val="10200"/>
            </a:schemeClr>
          </a:solidFill>
          <a:ln cap="flat" cmpd="sng" w="1277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33" name="Google Shape;13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77300" y="2639250"/>
            <a:ext cx="1311851" cy="778300"/>
          </a:xfrm>
          <a:prstGeom prst="rect">
            <a:avLst/>
          </a:prstGeom>
          <a:solidFill>
            <a:schemeClr val="lt1">
              <a:alpha val="10200"/>
            </a:schemeClr>
          </a:solidFill>
          <a:ln cap="flat" cmpd="sng" w="14300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34" name="Google Shape;13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66750" y="3640450"/>
            <a:ext cx="322162" cy="32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28950" y="3150862"/>
            <a:ext cx="322162" cy="3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8"/>
          <p:cNvSpPr/>
          <p:nvPr/>
        </p:nvSpPr>
        <p:spPr>
          <a:xfrm>
            <a:off x="4705992" y="749220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37" name="Google Shape;137;p18"/>
          <p:cNvSpPr txBox="1"/>
          <p:nvPr/>
        </p:nvSpPr>
        <p:spPr>
          <a:xfrm>
            <a:off x="4904139" y="745747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</a:rPr>
              <a:t>Prototype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4572000" y="1151525"/>
            <a:ext cx="16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F1.Destination Search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6205500" y="1144750"/>
            <a:ext cx="16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F2.Route Comparison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7777300" y="2034072"/>
            <a:ext cx="1311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F3.Sensory Score Breakdown</a:t>
            </a:r>
            <a:endParaRPr sz="900">
              <a:solidFill>
                <a:schemeClr val="dk2"/>
              </a:solidFill>
            </a:endParaRPr>
          </a:p>
        </p:txBody>
      </p:sp>
      <p:sp>
        <p:nvSpPr>
          <p:cNvPr id="141" name="Google Shape;14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46" name="Google Shape;146;p19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for the Iteration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47" name="Google Shape;147;p19"/>
          <p:cNvSpPr/>
          <p:nvPr/>
        </p:nvSpPr>
        <p:spPr>
          <a:xfrm>
            <a:off x="383615" y="650351"/>
            <a:ext cx="6028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Planned US, Features, AC, and Prototype overview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48" name="Google Shape;148;p19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149" name="Google Shape;149;p19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9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1" name="Google Shape;151;p19"/>
          <p:cNvSpPr/>
          <p:nvPr/>
        </p:nvSpPr>
        <p:spPr>
          <a:xfrm>
            <a:off x="186617" y="1182883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52" name="Google Shape;152;p19"/>
          <p:cNvSpPr txBox="1"/>
          <p:nvPr/>
        </p:nvSpPr>
        <p:spPr>
          <a:xfrm>
            <a:off x="384764" y="1179410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sz="1100"/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53" name="Google Shape;153;p19"/>
          <p:cNvSpPr/>
          <p:nvPr/>
        </p:nvSpPr>
        <p:spPr>
          <a:xfrm>
            <a:off x="142504" y="1484885"/>
            <a:ext cx="3750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 1.2 As a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sensory-sensitive commuter,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want to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avoid highly congested pedestrian corridors,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can reduce exposure to crowd-related stress.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161903" y="2489566"/>
            <a:ext cx="21354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55" name="Google Shape;155;p19"/>
          <p:cNvSpPr txBox="1"/>
          <p:nvPr/>
        </p:nvSpPr>
        <p:spPr>
          <a:xfrm>
            <a:off x="360050" y="2486093"/>
            <a:ext cx="1788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sz="1100"/>
          </a:p>
        </p:txBody>
      </p:sp>
      <p:graphicFrame>
        <p:nvGraphicFramePr>
          <p:cNvPr id="156" name="Google Shape;156;p19"/>
          <p:cNvGraphicFramePr/>
          <p:nvPr/>
        </p:nvGraphicFramePr>
        <p:xfrm>
          <a:off x="124691" y="2863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{F19ACC65-C517-44EE-8EBE-4630964B7F5D}</a:tableStyleId>
              </a:tblPr>
              <a:tblGrid>
                <a:gridCol w="347350"/>
                <a:gridCol w="1197675"/>
                <a:gridCol w="1295725"/>
                <a:gridCol w="15548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1.2.1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Route congestion data is available.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analyses possible routes.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Highly congested corridors are </a:t>
                      </a: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predicted</a:t>
                      </a: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1.2.2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User preferences and sensory scores are available.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Sensory load </a:t>
                      </a: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is calculated.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Crowd, noise and light scores are weighted based on user preferences.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1.2.3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 route sensory loads are calculated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Recommendations are shown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 route with the lowest personalised sensory load is recommended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7" name="Google Shape;15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6000" y="1179394"/>
            <a:ext cx="1701025" cy="3705482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58" name="Google Shape;158;p19"/>
          <p:cNvSpPr/>
          <p:nvPr/>
        </p:nvSpPr>
        <p:spPr>
          <a:xfrm>
            <a:off x="4705992" y="749220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59" name="Google Shape;159;p19"/>
          <p:cNvSpPr txBox="1"/>
          <p:nvPr/>
        </p:nvSpPr>
        <p:spPr>
          <a:xfrm>
            <a:off x="4904139" y="745747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</a:rPr>
              <a:t>Prototype</a:t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160" name="Google Shape;160;p19"/>
          <p:cNvSpPr txBox="1"/>
          <p:nvPr/>
        </p:nvSpPr>
        <p:spPr>
          <a:xfrm>
            <a:off x="6679450" y="1421146"/>
            <a:ext cx="1633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F4</a:t>
            </a:r>
            <a:r>
              <a:rPr lang="en-GB" sz="800">
                <a:solidFill>
                  <a:schemeClr val="dk2"/>
                </a:solidFill>
              </a:rPr>
              <a:t>.</a:t>
            </a:r>
            <a:r>
              <a:rPr lang="en-GB" sz="1000">
                <a:solidFill>
                  <a:schemeClr val="dk1"/>
                </a:solidFill>
              </a:rPr>
              <a:t>Congestion Forecast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61" name="Google Shape;161;p19"/>
          <p:cNvSpPr txBox="1"/>
          <p:nvPr/>
        </p:nvSpPr>
        <p:spPr>
          <a:xfrm>
            <a:off x="6701730" y="2402400"/>
            <a:ext cx="2045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F5</a:t>
            </a:r>
            <a:r>
              <a:rPr lang="en-GB" sz="800">
                <a:solidFill>
                  <a:schemeClr val="dk2"/>
                </a:solidFill>
              </a:rPr>
              <a:t>.</a:t>
            </a:r>
            <a:r>
              <a:rPr lang="en-GB" sz="1000">
                <a:solidFill>
                  <a:schemeClr val="dk1"/>
                </a:solidFill>
              </a:rPr>
              <a:t>Congested Corridor Highlight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62" name="Google Shape;162;p19"/>
          <p:cNvSpPr txBox="1"/>
          <p:nvPr/>
        </p:nvSpPr>
        <p:spPr>
          <a:xfrm>
            <a:off x="6679450" y="3868992"/>
            <a:ext cx="2045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F6</a:t>
            </a:r>
            <a:r>
              <a:rPr lang="en-GB" sz="1000">
                <a:solidFill>
                  <a:schemeClr val="dk1"/>
                </a:solidFill>
              </a:rPr>
              <a:t>.Personalised Lower-Sensory Route Recommendation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63" name="Google Shape;163;p19"/>
          <p:cNvCxnSpPr/>
          <p:nvPr/>
        </p:nvCxnSpPr>
        <p:spPr>
          <a:xfrm>
            <a:off x="6468550" y="1579450"/>
            <a:ext cx="2109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9"/>
          <p:cNvCxnSpPr/>
          <p:nvPr/>
        </p:nvCxnSpPr>
        <p:spPr>
          <a:xfrm flipH="1" rot="10800000">
            <a:off x="5962800" y="2571825"/>
            <a:ext cx="7167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5" name="Google Shape;165;p19"/>
          <p:cNvCxnSpPr/>
          <p:nvPr/>
        </p:nvCxnSpPr>
        <p:spPr>
          <a:xfrm>
            <a:off x="5351025" y="2663900"/>
            <a:ext cx="1328400" cy="1348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19"/>
          <p:cNvCxnSpPr/>
          <p:nvPr/>
        </p:nvCxnSpPr>
        <p:spPr>
          <a:xfrm flipH="1" rot="10800000">
            <a:off x="5968066" y="4097875"/>
            <a:ext cx="716700" cy="6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7" name="Google Shape;16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72" name="Google Shape;172;p20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for the Iteration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73" name="Google Shape;173;p20"/>
          <p:cNvSpPr/>
          <p:nvPr/>
        </p:nvSpPr>
        <p:spPr>
          <a:xfrm>
            <a:off x="383615" y="650351"/>
            <a:ext cx="6028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Planned US, Features, AC, and Prototype overview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74" name="Google Shape;174;p20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175" name="Google Shape;175;p20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20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7" name="Google Shape;177;p20"/>
          <p:cNvSpPr/>
          <p:nvPr/>
        </p:nvSpPr>
        <p:spPr>
          <a:xfrm>
            <a:off x="186617" y="1182883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78" name="Google Shape;178;p20"/>
          <p:cNvSpPr txBox="1"/>
          <p:nvPr/>
        </p:nvSpPr>
        <p:spPr>
          <a:xfrm>
            <a:off x="384764" y="1179410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sz="1100"/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179" name="Google Shape;179;p20"/>
          <p:cNvSpPr/>
          <p:nvPr/>
        </p:nvSpPr>
        <p:spPr>
          <a:xfrm>
            <a:off x="142504" y="1484885"/>
            <a:ext cx="3750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 1.3 As a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sensory-sensitive commuter during peak hour,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want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low-stimulation routes when crowd density exceeds my preferred threshold,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can avoid unexpected sensory overload.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0"/>
          <p:cNvSpPr/>
          <p:nvPr/>
        </p:nvSpPr>
        <p:spPr>
          <a:xfrm>
            <a:off x="161903" y="2489566"/>
            <a:ext cx="21354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81" name="Google Shape;181;p20"/>
          <p:cNvSpPr txBox="1"/>
          <p:nvPr/>
        </p:nvSpPr>
        <p:spPr>
          <a:xfrm>
            <a:off x="360050" y="2494995"/>
            <a:ext cx="1788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sz="1100"/>
          </a:p>
        </p:txBody>
      </p:sp>
      <p:graphicFrame>
        <p:nvGraphicFramePr>
          <p:cNvPr id="182" name="Google Shape;182;p20"/>
          <p:cNvGraphicFramePr/>
          <p:nvPr/>
        </p:nvGraphicFramePr>
        <p:xfrm>
          <a:off x="124691" y="2863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{F19ACC65-C517-44EE-8EBE-4630964B7F5D}</a:tableStyleId>
              </a:tblPr>
              <a:tblGrid>
                <a:gridCol w="356275"/>
                <a:gridCol w="1188775"/>
                <a:gridCol w="1295725"/>
                <a:gridCol w="15548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1.3.1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is on the sensory settings page.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selects and saves crowd, noise and lighting sensitivity levels.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stores and applies the user’s personal sensory thresholds.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1.3.2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Personal thresholds </a:t>
                      </a: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are saved</a:t>
                      </a: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 and route guidance is active.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current or upcoming sensory conditions exceed a threshold.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alerts the user and shows the trigger, location, distance and expected duration.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1.3.3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current route exceeds a threshold and a lower-sensory route is available.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compares alternative routes.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A lower-sensory route is recommended and can be selected for rerouting.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83" name="Google Shape;18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74047" y="2113550"/>
            <a:ext cx="1162650" cy="25327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84" name="Google Shape;184;p20"/>
          <p:cNvSpPr/>
          <p:nvPr/>
        </p:nvSpPr>
        <p:spPr>
          <a:xfrm>
            <a:off x="4705992" y="749220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185" name="Google Shape;185;p20"/>
          <p:cNvSpPr txBox="1"/>
          <p:nvPr/>
        </p:nvSpPr>
        <p:spPr>
          <a:xfrm>
            <a:off x="4904139" y="745747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</a:rPr>
              <a:t>Prototype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186" name="Google Shape;18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2125" y="2099200"/>
            <a:ext cx="1162650" cy="2561424"/>
          </a:xfrm>
          <a:prstGeom prst="rect">
            <a:avLst/>
          </a:prstGeom>
          <a:solidFill>
            <a:schemeClr val="lt1">
              <a:alpha val="10200"/>
            </a:schemeClr>
          </a:solidFill>
          <a:ln cap="flat" cmpd="sng" w="1277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id="187" name="Google Shape;187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1337" y="1267550"/>
            <a:ext cx="1701025" cy="3725444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88" name="Google Shape;188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72775" y="4091900"/>
            <a:ext cx="322162" cy="320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9" name="Google Shape;189;p20"/>
          <p:cNvCxnSpPr/>
          <p:nvPr/>
        </p:nvCxnSpPr>
        <p:spPr>
          <a:xfrm flipH="1" rot="10800000">
            <a:off x="5829550" y="3496575"/>
            <a:ext cx="114300" cy="12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0" name="Google Shape;190;p20"/>
          <p:cNvCxnSpPr/>
          <p:nvPr/>
        </p:nvCxnSpPr>
        <p:spPr>
          <a:xfrm flipH="1" rot="10800000">
            <a:off x="7719838" y="3484575"/>
            <a:ext cx="114300" cy="12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1" name="Google Shape;191;p20"/>
          <p:cNvSpPr txBox="1"/>
          <p:nvPr/>
        </p:nvSpPr>
        <p:spPr>
          <a:xfrm>
            <a:off x="6015128" y="912250"/>
            <a:ext cx="1667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F7</a:t>
            </a:r>
            <a:r>
              <a:rPr lang="en-GB" sz="1000">
                <a:solidFill>
                  <a:schemeClr val="dk1"/>
                </a:solidFill>
              </a:rPr>
              <a:t>.Threshold Settings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192" name="Google Shape;192;p20"/>
          <p:cNvSpPr txBox="1"/>
          <p:nvPr/>
        </p:nvSpPr>
        <p:spPr>
          <a:xfrm>
            <a:off x="7750003" y="1606600"/>
            <a:ext cx="1667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F8.</a:t>
            </a:r>
            <a:r>
              <a:rPr lang="en-GB" sz="1000">
                <a:solidFill>
                  <a:schemeClr val="dk1"/>
                </a:solidFill>
              </a:rPr>
              <a:t>Sensory Score &amp; Threshold Guide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7632050" y="1844725"/>
            <a:ext cx="2022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4" name="Google Shape;194;p20"/>
          <p:cNvSpPr txBox="1"/>
          <p:nvPr/>
        </p:nvSpPr>
        <p:spPr>
          <a:xfrm>
            <a:off x="7702603" y="4711875"/>
            <a:ext cx="14205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F9.Threshold </a:t>
            </a:r>
            <a:r>
              <a:rPr lang="en-GB" sz="1000">
                <a:solidFill>
                  <a:schemeClr val="dk1"/>
                </a:solidFill>
              </a:rPr>
              <a:t>Alert </a:t>
            </a:r>
            <a:r>
              <a:rPr lang="en-GB" sz="1000">
                <a:solidFill>
                  <a:schemeClr val="dk1"/>
                </a:solidFill>
              </a:rPr>
              <a:t>Settings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195" name="Google Shape;195;p20"/>
          <p:cNvCxnSpPr/>
          <p:nvPr/>
        </p:nvCxnSpPr>
        <p:spPr>
          <a:xfrm>
            <a:off x="7601925" y="4123475"/>
            <a:ext cx="229200" cy="657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" name="Google Shape;1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01" name="Google Shape;201;p21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202" name="Google Shape;202;p21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21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04" name="Google Shape;204;p21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205" name="Google Shape;205;p21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21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07" name="Google Shape;207;p21"/>
          <p:cNvSpPr/>
          <p:nvPr/>
        </p:nvSpPr>
        <p:spPr>
          <a:xfrm>
            <a:off x="377178" y="1028411"/>
            <a:ext cx="98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208" name="Google Shape;208;p21"/>
          <p:cNvSpPr txBox="1"/>
          <p:nvPr/>
        </p:nvSpPr>
        <p:spPr>
          <a:xfrm>
            <a:off x="424225" y="1004277"/>
            <a:ext cx="9594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Epic</a:t>
            </a:r>
            <a:endParaRPr sz="1100"/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09" name="Google Shape;209;p21"/>
          <p:cNvSpPr/>
          <p:nvPr/>
        </p:nvSpPr>
        <p:spPr>
          <a:xfrm>
            <a:off x="297252" y="1394562"/>
            <a:ext cx="8599800" cy="26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Epic 2: Sensory Environment Monitoring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Description：</a:t>
            </a:r>
            <a:endParaRPr b="1"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real-time visibility of sensory stressors across the CBD and enable users to make informed navigation decisions before entering overwhelming environments.</a:t>
            </a:r>
            <a:endParaRPr sz="11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Noto Sans Symbols"/>
              <a:buChar char="⮚"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Benefits: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Reduce unexpected exposure to sensory triggers.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successful rerouting before reaching high-stimulation zones.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Improve user perception of safety and comfort. </a:t>
            </a:r>
            <a:endParaRPr sz="1100"/>
          </a:p>
          <a:p>
            <a:pPr indent="-222250" lvl="0" marL="2159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•"/>
            </a:pP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Increase usage of identified sensory refuge locations.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10" name="Google Shape;210;p21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for the Iteration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16" name="Google Shape;216;p22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for the Iteration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17" name="Google Shape;217;p22"/>
          <p:cNvSpPr/>
          <p:nvPr/>
        </p:nvSpPr>
        <p:spPr>
          <a:xfrm>
            <a:off x="383615" y="650351"/>
            <a:ext cx="6028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Planned US, Features, AC, and Prototype overview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18" name="Google Shape;218;p22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219" name="Google Shape;219;p22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p22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21" name="Google Shape;221;p22"/>
          <p:cNvSpPr/>
          <p:nvPr/>
        </p:nvSpPr>
        <p:spPr>
          <a:xfrm>
            <a:off x="186617" y="1182883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222" name="Google Shape;222;p22"/>
          <p:cNvSpPr txBox="1"/>
          <p:nvPr/>
        </p:nvSpPr>
        <p:spPr>
          <a:xfrm>
            <a:off x="384764" y="1188312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sz="1100"/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23" name="Google Shape;223;p22"/>
          <p:cNvSpPr/>
          <p:nvPr/>
        </p:nvSpPr>
        <p:spPr>
          <a:xfrm>
            <a:off x="142504" y="1484885"/>
            <a:ext cx="3750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 2.1 As a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sensory-sensitive commuter,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want to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 nearby sensory refuge locations such as parks, libraries and quiet public spaces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can take breaks when feeling overwhelmed.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2"/>
          <p:cNvSpPr/>
          <p:nvPr/>
        </p:nvSpPr>
        <p:spPr>
          <a:xfrm>
            <a:off x="161903" y="2489566"/>
            <a:ext cx="21354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225" name="Google Shape;225;p22"/>
          <p:cNvSpPr txBox="1"/>
          <p:nvPr/>
        </p:nvSpPr>
        <p:spPr>
          <a:xfrm>
            <a:off x="360050" y="2494995"/>
            <a:ext cx="1788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sz="1100"/>
          </a:p>
        </p:txBody>
      </p:sp>
      <p:graphicFrame>
        <p:nvGraphicFramePr>
          <p:cNvPr id="226" name="Google Shape;226;p22"/>
          <p:cNvGraphicFramePr/>
          <p:nvPr/>
        </p:nvGraphicFramePr>
        <p:xfrm>
          <a:off x="124691" y="2863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{F19ACC65-C517-44EE-8EBE-4630964B7F5D}</a:tableStyleId>
              </a:tblPr>
              <a:tblGrid>
                <a:gridCol w="356275"/>
                <a:gridCol w="1029950"/>
                <a:gridCol w="1501025"/>
                <a:gridCol w="1508400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2.1.1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user’s current location is available.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searches for nearby quiet spaces.</a:t>
                      </a:r>
                      <a:endParaRPr sz="10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7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Nearby parks, libraries and </a:t>
                      </a: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quiet public</a:t>
                      </a: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 spaces are identified.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2.1.2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Potential refuge locations are available.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system evaluates distance, opening hours and predicted sensory load.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Suitable quiet spaces are ranked and recommended.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2.1.3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Recommendations have been generated.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views the results</a:t>
                      </a:r>
                      <a:r>
                        <a:rPr lang="en-GB" sz="7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700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Each place displays sensory load, distance, opening hours, walking time.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2.1.4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selects a refuge location.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chooses navigation</a:t>
                      </a:r>
                      <a:r>
                        <a:rPr lang="en-GB" sz="70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Walking directions to the selected location are displayed.</a:t>
                      </a:r>
                      <a:endParaRPr sz="10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83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2.1.5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is on the Add a Calm Place page.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They enter and submit the place details.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The new place is saved for review.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22"/>
          <p:cNvSpPr/>
          <p:nvPr/>
        </p:nvSpPr>
        <p:spPr>
          <a:xfrm>
            <a:off x="4705992" y="749220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228" name="Google Shape;228;p22"/>
          <p:cNvSpPr txBox="1"/>
          <p:nvPr/>
        </p:nvSpPr>
        <p:spPr>
          <a:xfrm>
            <a:off x="4904139" y="745747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</a:rPr>
              <a:t>Prototype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29" name="Google Shape;22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125" y="2099200"/>
            <a:ext cx="1162650" cy="2561424"/>
          </a:xfrm>
          <a:prstGeom prst="rect">
            <a:avLst/>
          </a:prstGeom>
          <a:solidFill>
            <a:schemeClr val="lt1">
              <a:alpha val="10200"/>
            </a:schemeClr>
          </a:solidFill>
          <a:ln cap="flat" cmpd="sng" w="1277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</p:pic>
      <p:cxnSp>
        <p:nvCxnSpPr>
          <p:cNvPr id="230" name="Google Shape;230;p22"/>
          <p:cNvCxnSpPr/>
          <p:nvPr/>
        </p:nvCxnSpPr>
        <p:spPr>
          <a:xfrm flipH="1" rot="10800000">
            <a:off x="5829550" y="3496575"/>
            <a:ext cx="114300" cy="12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31" name="Google Shape;231;p22"/>
          <p:cNvSpPr txBox="1"/>
          <p:nvPr/>
        </p:nvSpPr>
        <p:spPr>
          <a:xfrm>
            <a:off x="7834250" y="1606600"/>
            <a:ext cx="120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F11.</a:t>
            </a:r>
            <a:r>
              <a:rPr lang="en-GB" sz="1000">
                <a:solidFill>
                  <a:schemeClr val="dk1"/>
                </a:solidFill>
              </a:rPr>
              <a:t>Calm Place Category Filters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32" name="Google Shape;23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88625" y="1267550"/>
            <a:ext cx="1701025" cy="3708613"/>
          </a:xfrm>
          <a:prstGeom prst="rect">
            <a:avLst/>
          </a:prstGeom>
          <a:solidFill>
            <a:schemeClr val="lt1">
              <a:alpha val="10200"/>
            </a:schemeClr>
          </a:solidFill>
          <a:ln cap="flat" cmpd="sng" w="143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</p:pic>
      <p:cxnSp>
        <p:nvCxnSpPr>
          <p:cNvPr id="233" name="Google Shape;233;p22"/>
          <p:cNvCxnSpPr/>
          <p:nvPr/>
        </p:nvCxnSpPr>
        <p:spPr>
          <a:xfrm>
            <a:off x="7632050" y="1802525"/>
            <a:ext cx="2022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234" name="Google Shape;23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70675" y="4097925"/>
            <a:ext cx="322162" cy="320025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2"/>
          <p:cNvSpPr/>
          <p:nvPr/>
        </p:nvSpPr>
        <p:spPr>
          <a:xfrm>
            <a:off x="7788800" y="1549300"/>
            <a:ext cx="156600" cy="162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7863375" y="2692326"/>
            <a:ext cx="120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F12.</a:t>
            </a:r>
            <a:r>
              <a:rPr lang="en-GB" sz="1000">
                <a:solidFill>
                  <a:schemeClr val="dk1"/>
                </a:solidFill>
              </a:rPr>
              <a:t>Calm Place Ranking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689587" y="912250"/>
            <a:ext cx="2238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F10</a:t>
            </a:r>
            <a:r>
              <a:rPr lang="en-GB" sz="1000">
                <a:solidFill>
                  <a:schemeClr val="dk1"/>
                </a:solidFill>
              </a:rPr>
              <a:t>.Nearby Calm Place Discovery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7863375" y="3117846"/>
            <a:ext cx="120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F13.S</a:t>
            </a:r>
            <a:r>
              <a:rPr lang="en-GB" sz="1000">
                <a:solidFill>
                  <a:schemeClr val="dk1"/>
                </a:solidFill>
              </a:rPr>
              <a:t>ensory &amp; Place Information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39" name="Google Shape;239;p22"/>
          <p:cNvSpPr txBox="1"/>
          <p:nvPr/>
        </p:nvSpPr>
        <p:spPr>
          <a:xfrm>
            <a:off x="7863375" y="3573071"/>
            <a:ext cx="120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F14.</a:t>
            </a:r>
            <a:r>
              <a:rPr lang="en-GB" sz="1000">
                <a:solidFill>
                  <a:schemeClr val="dk1"/>
                </a:solidFill>
              </a:rPr>
              <a:t>Walking Navigation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7758650" y="2730900"/>
            <a:ext cx="75600" cy="13344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837594" y="4207249"/>
            <a:ext cx="1208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F15.</a:t>
            </a:r>
            <a:r>
              <a:rPr lang="en-GB" sz="1000">
                <a:solidFill>
                  <a:schemeClr val="dk1"/>
                </a:solidFill>
              </a:rPr>
              <a:t>Suggest a Calm Place</a:t>
            </a:r>
            <a:endParaRPr sz="1000">
              <a:solidFill>
                <a:schemeClr val="dk1"/>
              </a:solidFill>
            </a:endParaRPr>
          </a:p>
        </p:txBody>
      </p:sp>
      <p:cxnSp>
        <p:nvCxnSpPr>
          <p:cNvPr id="242" name="Google Shape;242;p22"/>
          <p:cNvCxnSpPr/>
          <p:nvPr/>
        </p:nvCxnSpPr>
        <p:spPr>
          <a:xfrm>
            <a:off x="7635394" y="4403174"/>
            <a:ext cx="202200" cy="2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3" name="Google Shape;243;p22"/>
          <p:cNvSpPr/>
          <p:nvPr/>
        </p:nvSpPr>
        <p:spPr>
          <a:xfrm>
            <a:off x="7788800" y="4165050"/>
            <a:ext cx="156600" cy="162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22"/>
          <p:cNvSpPr/>
          <p:nvPr/>
        </p:nvSpPr>
        <p:spPr>
          <a:xfrm>
            <a:off x="360050" y="3345688"/>
            <a:ext cx="156600" cy="162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360050" y="4813288"/>
            <a:ext cx="156600" cy="162900"/>
          </a:xfrm>
          <a:prstGeom prst="star5">
            <a:avLst>
              <a:gd fmla="val 19098" name="adj"/>
              <a:gd fmla="val 105146" name="hf"/>
              <a:gd fmla="val 110557" name="vf"/>
            </a:avLst>
          </a:prstGeom>
          <a:solidFill>
            <a:schemeClr val="accent4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51" name="Google Shape;251;p23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7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for the Iteration</a:t>
            </a:r>
            <a:endParaRPr b="1" sz="27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52" name="Google Shape;252;p23"/>
          <p:cNvSpPr/>
          <p:nvPr/>
        </p:nvSpPr>
        <p:spPr>
          <a:xfrm>
            <a:off x="383615" y="650351"/>
            <a:ext cx="60288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Planned US, Features, AC, and Prototype overview</a:t>
            </a:r>
            <a:endParaRPr sz="11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53" name="Google Shape;253;p23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254" name="Google Shape;254;p23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3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6" name="Google Shape;256;p23"/>
          <p:cNvSpPr/>
          <p:nvPr/>
        </p:nvSpPr>
        <p:spPr>
          <a:xfrm>
            <a:off x="186617" y="1182883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257" name="Google Shape;257;p23"/>
          <p:cNvSpPr txBox="1"/>
          <p:nvPr/>
        </p:nvSpPr>
        <p:spPr>
          <a:xfrm>
            <a:off x="384764" y="1188312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User Stories</a:t>
            </a:r>
            <a:endParaRPr sz="1100"/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58" name="Google Shape;258;p23"/>
          <p:cNvSpPr/>
          <p:nvPr/>
        </p:nvSpPr>
        <p:spPr>
          <a:xfrm>
            <a:off x="142504" y="1484885"/>
            <a:ext cx="3750000" cy="9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 2.2 As a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sensory-sensitive commuter,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want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predictive alerts showing which areas are likely to become overwhelming within the next hour, </a:t>
            </a:r>
            <a:r>
              <a:rPr b="1"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 that </a:t>
            </a:r>
            <a:r>
              <a:rPr lang="en-GB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can adjust my travel plans proactively.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161903" y="2489566"/>
            <a:ext cx="21354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260" name="Google Shape;260;p23"/>
          <p:cNvSpPr txBox="1"/>
          <p:nvPr/>
        </p:nvSpPr>
        <p:spPr>
          <a:xfrm>
            <a:off x="360050" y="2494995"/>
            <a:ext cx="17889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Acceptance Criteria</a:t>
            </a:r>
            <a:endParaRPr sz="1100"/>
          </a:p>
        </p:txBody>
      </p:sp>
      <p:graphicFrame>
        <p:nvGraphicFramePr>
          <p:cNvPr id="261" name="Google Shape;261;p23"/>
          <p:cNvGraphicFramePr/>
          <p:nvPr/>
        </p:nvGraphicFramePr>
        <p:xfrm>
          <a:off x="124691" y="286318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{F19ACC65-C517-44EE-8EBE-4630964B7F5D}</a:tableStyleId>
              </a:tblPr>
              <a:tblGrid>
                <a:gridCol w="356275"/>
                <a:gridCol w="1188775"/>
                <a:gridCol w="1295725"/>
                <a:gridCol w="1554875"/>
              </a:tblGrid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Given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900"/>
                        <a:buFont typeface="Arial"/>
                        <a:buNone/>
                      </a:pPr>
                      <a:r>
                        <a:rPr b="1" lang="en-GB" sz="900">
                          <a:solidFill>
                            <a:schemeClr val="lt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Then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2.2.1</a:t>
                      </a:r>
                      <a:endParaRPr sz="7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An area is selected.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user views the forecast.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A bar chart shows the predicted sensory load for the next hour.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81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AC</a:t>
                      </a:r>
                      <a:endParaRPr sz="1100"/>
                    </a:p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700">
                          <a:latin typeface="Arial"/>
                          <a:ea typeface="Arial"/>
                          <a:cs typeface="Arial"/>
                          <a:sym typeface="Arial"/>
                        </a:rPr>
                        <a:t>2.2.2</a:t>
                      </a:r>
                      <a:endParaRPr sz="1100"/>
                    </a:p>
                  </a:txBody>
                  <a:tcPr marT="34300" marB="34300" marR="68600" marL="6860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A personal threshold is set.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The forecast chart is displayed.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Arial"/>
                          <a:ea typeface="Arial"/>
                          <a:cs typeface="Arial"/>
                          <a:sym typeface="Arial"/>
                        </a:rPr>
                        <a:t>Values below the threshold appear green; values above it appear red.</a:t>
                      </a:r>
                      <a:endParaRPr sz="1100"/>
                    </a:p>
                  </a:txBody>
                  <a:tcPr marT="34300" marB="34300" marR="68600" marL="6860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62" name="Google Shape;26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22125" y="2099200"/>
            <a:ext cx="1162650" cy="2560128"/>
          </a:xfrm>
          <a:prstGeom prst="rect">
            <a:avLst/>
          </a:prstGeom>
          <a:noFill/>
          <a:ln cap="flat" cmpd="sng" w="69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63" name="Google Shape;263;p23"/>
          <p:cNvSpPr/>
          <p:nvPr/>
        </p:nvSpPr>
        <p:spPr>
          <a:xfrm>
            <a:off x="4705992" y="749220"/>
            <a:ext cx="1378500" cy="260400"/>
          </a:xfrm>
          <a:prstGeom prst="roundRect">
            <a:avLst>
              <a:gd fmla="val 50000" name="adj"/>
            </a:avLst>
          </a:prstGeom>
          <a:noFill/>
          <a:ln cap="flat" cmpd="sng" w="9525">
            <a:solidFill>
              <a:srgbClr val="3B3B3B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7CD0E8E286453C9A51CE470AC63D29F4A8A8C0B701A039D4C7514837F04297F6F03D0E86ECF84E4CB66B7DE152BFECFE1AF2B835ADC4C11" id="264" name="Google Shape;264;p23"/>
          <p:cNvSpPr txBox="1"/>
          <p:nvPr/>
        </p:nvSpPr>
        <p:spPr>
          <a:xfrm>
            <a:off x="4904139" y="745747"/>
            <a:ext cx="10788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34275">
            <a:spAutoFit/>
          </a:bodyPr>
          <a:lstStyle/>
          <a:p>
            <a:pPr indent="0" lvl="0" marL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3B3B3B"/>
                </a:solidFill>
              </a:rPr>
              <a:t>Prototype</a:t>
            </a:r>
            <a:endParaRPr b="1" sz="1200">
              <a:solidFill>
                <a:schemeClr val="dk1"/>
              </a:solidFill>
            </a:endParaRPr>
          </a:p>
        </p:txBody>
      </p:sp>
      <p:pic>
        <p:nvPicPr>
          <p:cNvPr id="265" name="Google Shape;265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2775" y="4055725"/>
            <a:ext cx="322162" cy="3200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66" name="Google Shape;266;p23"/>
          <p:cNvCxnSpPr/>
          <p:nvPr/>
        </p:nvCxnSpPr>
        <p:spPr>
          <a:xfrm flipH="1" rot="10800000">
            <a:off x="5829550" y="3496575"/>
            <a:ext cx="114300" cy="120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7" name="Google Shape;267;p23"/>
          <p:cNvSpPr txBox="1"/>
          <p:nvPr/>
        </p:nvSpPr>
        <p:spPr>
          <a:xfrm>
            <a:off x="5982949" y="1406575"/>
            <a:ext cx="2352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F16. </a:t>
            </a:r>
            <a:r>
              <a:rPr lang="en-GB" sz="1000">
                <a:solidFill>
                  <a:schemeClr val="dk1"/>
                </a:solidFill>
              </a:rPr>
              <a:t>Hourly Sensory Load Forecast</a:t>
            </a:r>
            <a:endParaRPr sz="1000">
              <a:solidFill>
                <a:schemeClr val="dk1"/>
              </a:solidFill>
            </a:endParaRPr>
          </a:p>
        </p:txBody>
      </p:sp>
      <p:sp>
        <p:nvSpPr>
          <p:cNvPr id="268" name="Google Shape;268;p23"/>
          <p:cNvSpPr txBox="1"/>
          <p:nvPr/>
        </p:nvSpPr>
        <p:spPr>
          <a:xfrm>
            <a:off x="5982950" y="4804800"/>
            <a:ext cx="2595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chemeClr val="dk1"/>
                </a:solidFill>
              </a:rPr>
              <a:t>F17. </a:t>
            </a:r>
            <a:r>
              <a:rPr lang="en-GB" sz="1000">
                <a:solidFill>
                  <a:schemeClr val="dk1"/>
                </a:solidFill>
              </a:rPr>
              <a:t>Colour-Coded Sensory Load Levels</a:t>
            </a:r>
            <a:endParaRPr sz="1000">
              <a:solidFill>
                <a:schemeClr val="dk1"/>
              </a:solidFill>
            </a:endParaRPr>
          </a:p>
        </p:txBody>
      </p:sp>
      <p:pic>
        <p:nvPicPr>
          <p:cNvPr id="269" name="Google Shape;26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88625" y="1856349"/>
            <a:ext cx="2209675" cy="287427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70" name="Google Shape;270;p23"/>
          <p:cNvCxnSpPr/>
          <p:nvPr/>
        </p:nvCxnSpPr>
        <p:spPr>
          <a:xfrm>
            <a:off x="7267700" y="4279725"/>
            <a:ext cx="12900" cy="525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1" name="Google Shape;27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76" name="Google Shape;276;p24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277" name="Google Shape;277;p24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4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79" name="Google Shape;279;p24"/>
          <p:cNvSpPr txBox="1"/>
          <p:nvPr/>
        </p:nvSpPr>
        <p:spPr>
          <a:xfrm>
            <a:off x="445100" y="756750"/>
            <a:ext cx="4821900" cy="11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Live crowd sensing (real time)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Pedestrian Counting System</a:t>
            </a:r>
            <a:r>
              <a:rPr lang="en-GB" sz="1100">
                <a:solidFill>
                  <a:schemeClr val="dk1"/>
                </a:solidFill>
              </a:rPr>
              <a:t>: counts per minute + sensor locations.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134 sensors</a:t>
            </a:r>
            <a:r>
              <a:rPr lang="en-GB" sz="1100">
                <a:solidFill>
                  <a:schemeClr val="dk1"/>
                </a:solidFill>
              </a:rPr>
              <a:t>, ~50,000 readings per rolling hour, 5-minute refresh.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id="280" name="Google Shape;280;p24"/>
          <p:cNvSpPr txBox="1"/>
          <p:nvPr/>
        </p:nvSpPr>
        <p:spPr>
          <a:xfrm>
            <a:off x="445100" y="2677425"/>
            <a:ext cx="5193000" cy="13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</a:rPr>
              <a:t>Sensory proxies (per iteration)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●223 live music venues, 301 bars with patron capacity (CLUE 2024).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●10,300 street lights with lux levels, 53 active construction sites.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Declared proxies</a:t>
            </a:r>
            <a:r>
              <a:rPr lang="en-GB" sz="1100">
                <a:solidFill>
                  <a:schemeClr val="dk1"/>
                </a:solidFill>
              </a:rPr>
              <a:t>: crowds are measured; the city publishes no live noise feed.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81" name="Google Shape;281;p24"/>
          <p:cNvSpPr/>
          <p:nvPr/>
        </p:nvSpPr>
        <p:spPr>
          <a:xfrm>
            <a:off x="137050" y="144400"/>
            <a:ext cx="513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-GB" sz="2700">
                <a:solidFill>
                  <a:schemeClr val="dk1"/>
                </a:solidFill>
              </a:rPr>
              <a:t>  </a:t>
            </a:r>
            <a:r>
              <a:rPr b="1" lang="en-GB" sz="2700">
                <a:solidFill>
                  <a:schemeClr val="dk1"/>
                </a:solidFill>
              </a:rPr>
              <a:t>Open Data: 11 Sources</a:t>
            </a:r>
            <a:r>
              <a:rPr lang="en-GB" sz="1100">
                <a:solidFill>
                  <a:schemeClr val="dk1"/>
                </a:solidFill>
              </a:rPr>
              <a:t> </a:t>
            </a:r>
            <a:endParaRPr b="1" sz="27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282" name="Google Shape;282;p24"/>
          <p:cNvSpPr txBox="1"/>
          <p:nvPr/>
        </p:nvSpPr>
        <p:spPr>
          <a:xfrm>
            <a:off x="5696138" y="754200"/>
            <a:ext cx="4583100" cy="11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Forecasting (daily)</a:t>
            </a:r>
            <a:endParaRPr b="1" sz="1200">
              <a:solidFill>
                <a:schemeClr val="dk1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Pedestrian counts per hour</a:t>
            </a:r>
            <a:r>
              <a:rPr lang="en-GB" sz="1100">
                <a:solidFill>
                  <a:schemeClr val="dk1"/>
                </a:solidFill>
              </a:rPr>
              <a:t>: 268,000 rows over a 120-day window.</a:t>
            </a:r>
            <a:endParaRPr sz="1100">
              <a:solidFill>
                <a:schemeClr val="dk1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16,500 hourly profiles</a:t>
            </a:r>
            <a:r>
              <a:rPr lang="en-GB" sz="1100">
                <a:solidFill>
                  <a:schemeClr val="dk1"/>
                </a:solidFill>
              </a:rPr>
              <a:t> (sensor x weekday x hour) power next-hour forecasts.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3" name="Google Shape;283;p24"/>
          <p:cNvSpPr txBox="1"/>
          <p:nvPr/>
        </p:nvSpPr>
        <p:spPr>
          <a:xfrm>
            <a:off x="5646100" y="2670375"/>
            <a:ext cx="4257000" cy="141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Refuges and basemap (per iteration)</a:t>
            </a:r>
            <a:endParaRPr b="1" sz="1200">
              <a:solidFill>
                <a:schemeClr val="dk1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3,242 refuges in 3 tiers</a:t>
            </a:r>
            <a:r>
              <a:rPr lang="en-GB" sz="1100">
                <a:solidFill>
                  <a:schemeClr val="dk1"/>
                </a:solidFill>
              </a:rPr>
              <a:t>: landmarks, street furniture, public toilets.</a:t>
            </a:r>
            <a:endParaRPr sz="1100">
              <a:solidFill>
                <a:schemeClr val="dk1"/>
              </a:solidFill>
            </a:endParaRPr>
          </a:p>
          <a:p>
            <a:pPr indent="0" lvl="0" marL="469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OpenStreetMap</a:t>
            </a:r>
            <a:r>
              <a:rPr lang="en-GB" sz="1100">
                <a:solidFill>
                  <a:schemeClr val="dk1"/>
                </a:solidFill>
              </a:rPr>
              <a:t> walkable graph: 70,614 street edges across the CBD.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4" name="Google Shape;284;p24"/>
          <p:cNvSpPr txBox="1"/>
          <p:nvPr/>
        </p:nvSpPr>
        <p:spPr>
          <a:xfrm>
            <a:off x="193150" y="4510325"/>
            <a:ext cx="10027800" cy="4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900">
                <a:solidFill>
                  <a:srgbClr val="757575"/>
                </a:solidFill>
              </a:rPr>
              <a:t>Data: City of Melbourne Open Data, licensed CC BY 4.0. Map data: (c) OpenStreetMap contributors, licensed ODbL.</a:t>
            </a:r>
            <a:endParaRPr i="1" sz="900">
              <a:solidFill>
                <a:srgbClr val="75757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85" name="Google Shape;285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5"/>
          <p:cNvSpPr txBox="1"/>
          <p:nvPr>
            <p:ph idx="1" type="body"/>
          </p:nvPr>
        </p:nvSpPr>
        <p:spPr>
          <a:xfrm>
            <a:off x="92748" y="1157141"/>
            <a:ext cx="2713500" cy="324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Time-Shifting, Not Just Re-Routing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 Predicts how a route’s sensory load will change over time.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Suggests a better departure time, not only a different path.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Example: “Leave 12 minutes later and this route changes from High to Low.”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Uses existing hourly pedestrian patterns, requiring minimal additional development.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291" name="Google Shape;291;p25"/>
          <p:cNvSpPr txBox="1"/>
          <p:nvPr>
            <p:ph idx="2" type="body"/>
          </p:nvPr>
        </p:nvSpPr>
        <p:spPr>
          <a:xfrm>
            <a:off x="2781450" y="1146074"/>
            <a:ext cx="3620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Micro-Refuges as First-Class Navigation Targets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Treats public seats, drinking fountains and quiet laneways as navigable sensory refuges.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Shows the nearest refuge throughout the journey.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Example: “A sensory refuge is 90 seconds away.”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Creates a dense support network beyond traditional parks and libraries.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id="292" name="Google Shape;292;p25"/>
          <p:cNvSpPr txBox="1"/>
          <p:nvPr>
            <p:ph idx="2" type="body"/>
          </p:nvPr>
        </p:nvSpPr>
        <p:spPr>
          <a:xfrm>
            <a:off x="6274848" y="1134990"/>
            <a:ext cx="277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rgbClr val="000000"/>
                </a:solidFill>
              </a:rPr>
              <a:t>Community-Verified Calm Place</a:t>
            </a:r>
            <a:endParaRPr b="1"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b="1" lang="en-GB" sz="1100">
                <a:solidFill>
                  <a:srgbClr val="000000"/>
                </a:solidFill>
              </a:rPr>
              <a:t> </a:t>
            </a:r>
            <a:r>
              <a:rPr lang="en-GB" sz="1100">
                <a:solidFill>
                  <a:srgbClr val="000000"/>
                </a:solidFill>
              </a:rPr>
              <a:t>Allows users to suggest calm places that are missing from official datasets.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Captures local knowledge and lived experience.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Reviews suggestions before adding them to the map.</a:t>
            </a:r>
            <a:endParaRPr sz="11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Char char="●"/>
            </a:pPr>
            <a:r>
              <a:rPr lang="en-GB" sz="1100">
                <a:solidFill>
                  <a:srgbClr val="000000"/>
                </a:solidFill>
              </a:rPr>
              <a:t>Continuously expands the sensory-refuge network.</a:t>
            </a:r>
            <a:endParaRPr sz="1100">
              <a:solidFill>
                <a:srgbClr val="000000"/>
              </a:solidFill>
            </a:endParaRPr>
          </a:p>
        </p:txBody>
      </p: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93" name="Google Shape;293;p25"/>
          <p:cNvSpPr/>
          <p:nvPr/>
        </p:nvSpPr>
        <p:spPr>
          <a:xfrm>
            <a:off x="2007000" y="332700"/>
            <a:ext cx="5130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700"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94" name="Google Shape;294;p25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295" name="Google Shape;295;p25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25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97" name="Google Shape;297;p25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chemeClr val="dk1"/>
                </a:solidFill>
              </a:rPr>
              <a:t>  Innovation</a:t>
            </a:r>
            <a:endParaRPr b="1" sz="2700"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298" name="Google Shape;298;p25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299" name="Google Shape;299;p25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0" name="Google Shape;300;p25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01" name="Google Shape;301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6"/>
          <p:cNvSpPr txBox="1"/>
          <p:nvPr/>
        </p:nvSpPr>
        <p:spPr>
          <a:xfrm>
            <a:off x="3224400" y="101050"/>
            <a:ext cx="714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7" name="Google Shape;307;p26"/>
          <p:cNvSpPr txBox="1"/>
          <p:nvPr/>
        </p:nvSpPr>
        <p:spPr>
          <a:xfrm>
            <a:off x="498775" y="1039100"/>
            <a:ext cx="76164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Protecting sensitive user data</a:t>
            </a:r>
            <a:endParaRPr b="1" sz="12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●Sensory thresholds reveal disability status, so they are handled as </a:t>
            </a:r>
            <a:r>
              <a:rPr b="1" lang="en-GB" sz="1100">
                <a:solidFill>
                  <a:schemeClr val="dk1"/>
                </a:solidFill>
              </a:rPr>
              <a:t>sensitive information</a:t>
            </a:r>
            <a:r>
              <a:rPr lang="en-GB" sz="1100">
                <a:solidFill>
                  <a:schemeClr val="dk1"/>
                </a:solidFill>
              </a:rPr>
              <a:t> under the Privacy Act 1988.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●Explicit consent is captured at sign-up and sensory profiles are never shared with third parties.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Data minimisation</a:t>
            </a:r>
            <a:r>
              <a:rPr lang="en-GB" sz="1100">
                <a:solidFill>
                  <a:schemeClr val="dk1"/>
                </a:solidFill>
              </a:rPr>
              <a:t> — we store threshold values only, never a diagnosis or condition.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●Route history is not persisted and coordinates are truncated before storage.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08" name="Google Shape;308;p26"/>
          <p:cNvSpPr txBox="1"/>
          <p:nvPr/>
        </p:nvSpPr>
        <p:spPr>
          <a:xfrm>
            <a:off x="457200" y="2670475"/>
            <a:ext cx="72735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Authentication and access control</a:t>
            </a:r>
            <a:endParaRPr b="1" sz="12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●Passwords require </a:t>
            </a:r>
            <a:r>
              <a:rPr b="1" lang="en-GB" sz="1100">
                <a:solidFill>
                  <a:schemeClr val="dk1"/>
                </a:solidFill>
              </a:rPr>
              <a:t>at least 9 alphanumeric characters</a:t>
            </a:r>
            <a:r>
              <a:rPr lang="en-GB" sz="1100">
                <a:solidFill>
                  <a:schemeClr val="dk1"/>
                </a:solidFill>
              </a:rPr>
              <a:t> and are hashed with bcrypt, never stored in plain text.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●Session tokens expire automatically and re-authentication is required to change a sensory profile.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Server-side authorisation on every profile endpoint</a:t>
            </a:r>
            <a:r>
              <a:rPr lang="en-GB" sz="1100">
                <a:solidFill>
                  <a:schemeClr val="dk1"/>
                </a:solidFill>
              </a:rPr>
              <a:t>, so one user can never retrieve another user’s settings.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●All traffic is served over HTTPS with TLS enforced.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09" name="Google Shape;309;p26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310" name="Google Shape;310;p26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26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12" name="Google Shape;312;p26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chemeClr val="dk1"/>
                </a:solidFill>
              </a:rPr>
              <a:t>  </a:t>
            </a:r>
            <a:r>
              <a:rPr b="1" lang="en-GB" sz="2700">
                <a:solidFill>
                  <a:schemeClr val="dk1"/>
                </a:solidFill>
              </a:rPr>
              <a:t>Security Plan</a:t>
            </a:r>
            <a:endParaRPr b="1" sz="2700"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13" name="Google Shape;313;p26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314" name="Google Shape;314;p26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5" name="Google Shape;315;p26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16" name="Google Shape;316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27"/>
          <p:cNvSpPr txBox="1"/>
          <p:nvPr/>
        </p:nvSpPr>
        <p:spPr>
          <a:xfrm>
            <a:off x="2753600" y="156450"/>
            <a:ext cx="5777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aphicFrame>
        <p:nvGraphicFramePr>
          <p:cNvPr id="322" name="Google Shape;322;p27"/>
          <p:cNvGraphicFramePr/>
          <p:nvPr/>
        </p:nvGraphicFramePr>
        <p:xfrm>
          <a:off x="505700" y="108004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{65909430-6AD3-485F-8A6D-33503A73587F}</a:tableStyleId>
              </a:tblPr>
              <a:tblGrid>
                <a:gridCol w="447675"/>
                <a:gridCol w="1899900"/>
                <a:gridCol w="786150"/>
                <a:gridCol w="5114925"/>
              </a:tblGrid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</a:rPr>
                        <a:t>#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</a:rPr>
                        <a:t>Risk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</a:rPr>
                        <a:t>Rating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900">
                          <a:solidFill>
                            <a:srgbClr val="FFFFFF"/>
                          </a:solidFill>
                        </a:rPr>
                        <a:t>Mitigation</a:t>
                      </a:r>
                      <a:endParaRPr b="1" sz="900">
                        <a:solidFill>
                          <a:srgbClr val="FFFFFF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434343"/>
                    </a:solidFill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1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Broken authentication on sensory profile endpoints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High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9+ character alphanumeric password policy, hashed storage, token expiry and server-side authorisation on every request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2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Exposure of disability-related personal data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High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Classify as sensitive information, minimise stored fields, encrypt at rest, consent captured at collection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3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API keys exposed in the client bundle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High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All City of Melbourne and OpenStreetMap calls routed through a backend proxy; keys held server-side only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4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Corrupted or stale open data producing unsafe route advice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Medium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Range validation on incoming feeds, staleness timestamps shown to the user, degraded-mode messaging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5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Unrestricted routing endpoint abused for denial of service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Medium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Rate limiting per IP and per session on the route calculation service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7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6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Vulnerable npm dependencies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Medium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Automated npm audit in the build pipeline; patch before each release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43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7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Open ports and unused services on the deployment host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Low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/>
                        <a:t>Close all unwanted ports and disable services not required by the build</a:t>
                      </a:r>
                      <a:endParaRPr sz="9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23" name="Google Shape;323;p27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324" name="Google Shape;324;p27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27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26" name="Google Shape;326;p27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chemeClr val="dk1"/>
                </a:solidFill>
              </a:rPr>
              <a:t>  </a:t>
            </a:r>
            <a:r>
              <a:rPr b="1" lang="en-GB" sz="2700">
                <a:solidFill>
                  <a:schemeClr val="dk1"/>
                </a:solidFill>
              </a:rPr>
              <a:t>Risk Assessment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327" name="Google Shape;327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8"/>
          <p:cNvSpPr txBox="1"/>
          <p:nvPr/>
        </p:nvSpPr>
        <p:spPr>
          <a:xfrm>
            <a:off x="163750" y="156450"/>
            <a:ext cx="59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3" name="Google Shape;333;p28"/>
          <p:cNvSpPr txBox="1"/>
          <p:nvPr/>
        </p:nvSpPr>
        <p:spPr>
          <a:xfrm>
            <a:off x="571500" y="1070275"/>
            <a:ext cx="7730700" cy="176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Quality assurance of project code</a:t>
            </a:r>
            <a:endParaRPr b="1" sz="12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eslint-plugin-security</a:t>
            </a:r>
            <a:r>
              <a:rPr lang="en-GB" sz="1100">
                <a:solidFill>
                  <a:schemeClr val="dk1"/>
                </a:solidFill>
              </a:rPr>
              <a:t> and TypeScript strict mode run on every commit to catch unsafe patterns early.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</a:t>
            </a:r>
            <a:r>
              <a:rPr b="1" lang="en-GB" sz="1100">
                <a:solidFill>
                  <a:schemeClr val="dk1"/>
                </a:solidFill>
              </a:rPr>
              <a:t>npm audit</a:t>
            </a:r>
            <a:r>
              <a:rPr lang="en-GB" sz="1100">
                <a:solidFill>
                  <a:schemeClr val="dk1"/>
                </a:solidFill>
              </a:rPr>
              <a:t> in the build pipeline flags dependency vulnerabilities before release.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●Secret scanning enabled and .env excluded from Git, so no credentials reach the repository.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●A security checklist item is required in every peer code review before a branch is merged.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34" name="Google Shape;334;p28"/>
          <p:cNvSpPr txBox="1"/>
          <p:nvPr/>
        </p:nvSpPr>
        <p:spPr>
          <a:xfrm>
            <a:off x="571500" y="2701650"/>
            <a:ext cx="7502100" cy="23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200">
                <a:solidFill>
                  <a:schemeClr val="dk1"/>
                </a:solidFill>
              </a:rPr>
              <a:t>Penetration testing and documentation (MCS)</a:t>
            </a:r>
            <a:endParaRPr b="1" sz="12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●Testing is performed </a:t>
            </a:r>
            <a:r>
              <a:rPr b="1" lang="en-GB" sz="1100">
                <a:solidFill>
                  <a:schemeClr val="dk1"/>
                </a:solidFill>
              </a:rPr>
              <a:t>only against our own deployed build</a:t>
            </a:r>
            <a:r>
              <a:rPr lang="en-GB" sz="1100">
                <a:solidFill>
                  <a:schemeClr val="dk1"/>
                </a:solidFill>
              </a:rPr>
              <a:t>; brute force attacks are strictly prohibited.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●OWASP ZAP baseline scan, then manual testing of authorisation bypass, injection on the destination field and session handling.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●Findings documented with screenshots, then an </a:t>
            </a:r>
            <a:r>
              <a:rPr b="1" lang="en-GB" sz="1100">
                <a:solidFill>
                  <a:schemeClr val="dk1"/>
                </a:solidFill>
              </a:rPr>
              <a:t>impact assessment table</a:t>
            </a:r>
            <a:r>
              <a:rPr lang="en-GB" sz="1100">
                <a:solidFill>
                  <a:schemeClr val="dk1"/>
                </a:solidFill>
              </a:rPr>
              <a:t> against confidentiality, integrity and availability.</a:t>
            </a:r>
            <a:endParaRPr sz="11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●Recommendations prioritised by impact and ease of implementation, uploaded to the PGP Security folder at build submission.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35" name="Google Shape;335;p28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336" name="Google Shape;336;p28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7" name="Google Shape;337;p28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38" name="Google Shape;338;p28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chemeClr val="dk1"/>
                </a:solidFill>
              </a:rPr>
              <a:t>  Penetration Testing</a:t>
            </a:r>
            <a:endParaRPr b="1" sz="2700">
              <a:solidFill>
                <a:schemeClr val="dk1"/>
              </a:solidFill>
            </a:endParaRPr>
          </a:p>
        </p:txBody>
      </p:sp>
      <p:sp>
        <p:nvSpPr>
          <p:cNvPr id="339" name="Google Shape;339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29"/>
          <p:cNvSpPr txBox="1"/>
          <p:nvPr/>
        </p:nvSpPr>
        <p:spPr>
          <a:xfrm>
            <a:off x="540325" y="353325"/>
            <a:ext cx="5985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45" name="Google Shape;345;p29"/>
          <p:cNvSpPr txBox="1"/>
          <p:nvPr/>
        </p:nvSpPr>
        <p:spPr>
          <a:xfrm>
            <a:off x="1074325" y="1251550"/>
            <a:ext cx="6844800" cy="27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Aminpour, F. (2025, October 24). </a:t>
            </a:r>
            <a:r>
              <a:rPr i="1" lang="en-GB" sz="1100">
                <a:solidFill>
                  <a:schemeClr val="dk1"/>
                </a:solidFill>
              </a:rPr>
              <a:t>Designing cities for neurodiversity—Why we need inclusive public open spaces</a:t>
            </a:r>
            <a:r>
              <a:rPr lang="en-GB" sz="1100">
                <a:solidFill>
                  <a:schemeClr val="dk1"/>
                </a:solidFill>
              </a:rPr>
              <a:t>. City Futures Research Centre Blog.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  </a:t>
            </a:r>
            <a:r>
              <a:rPr lang="en-GB" sz="1100" u="sng">
                <a:solidFill>
                  <a:schemeClr val="hlink"/>
                </a:solidFill>
                <a:hlinkClick r:id="rId3"/>
              </a:rPr>
              <a:t>https://blogs.cityfutures.unsw.edu.au/news/designing-cities-neurodiversity-why-we-need-inclusive-public-open-spaces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Carayol, C. (2026, March 11). </a:t>
            </a:r>
            <a:r>
              <a:rPr i="1" lang="en-GB" sz="1100">
                <a:solidFill>
                  <a:schemeClr val="dk1"/>
                </a:solidFill>
              </a:rPr>
              <a:t>Designing for neurodivergence makes life better according to new research</a:t>
            </a:r>
            <a:r>
              <a:rPr lang="en-GB" sz="1100">
                <a:solidFill>
                  <a:schemeClr val="dk1"/>
                </a:solidFill>
              </a:rPr>
              <a:t>. Architecture &amp; Design.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  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https://www.architectureanddesign.com.au/editorial/industry-news/designing-cities-for-neurodivergent-people-makes-urban-life-better-for-everyone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100">
                <a:solidFill>
                  <a:schemeClr val="dk1"/>
                </a:solidFill>
              </a:rPr>
              <a:t>Hidden Disabilities Sunflower. (n.d.). </a:t>
            </a:r>
            <a:r>
              <a:rPr i="1" lang="en-GB" sz="1100">
                <a:solidFill>
                  <a:schemeClr val="dk1"/>
                </a:solidFill>
              </a:rPr>
              <a:t>Metro Trains in Melbourne launch the Hidden Disabilities Sunflower</a:t>
            </a:r>
            <a:r>
              <a:rPr lang="en-GB" sz="1100">
                <a:solidFill>
                  <a:schemeClr val="dk1"/>
                </a:solidFill>
              </a:rPr>
              <a:t>.</a:t>
            </a:r>
            <a:br>
              <a:rPr lang="en-GB" sz="1100">
                <a:solidFill>
                  <a:schemeClr val="dk1"/>
                </a:solidFill>
              </a:rPr>
            </a:br>
            <a:r>
              <a:rPr lang="en-GB" sz="1100">
                <a:solidFill>
                  <a:schemeClr val="dk1"/>
                </a:solidFill>
              </a:rPr>
              <a:t>  </a:t>
            </a:r>
            <a:r>
              <a:rPr lang="en-GB" sz="1100" u="sng">
                <a:solidFill>
                  <a:schemeClr val="hlink"/>
                </a:solidFill>
                <a:hlinkClick r:id="rId5"/>
              </a:rPr>
              <a:t>https://hdsunflower.com/au/insights/post/metro-australia-launch-the-hidden-disabilities-sunflower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46" name="Google Shape;346;p29"/>
          <p:cNvGrpSpPr/>
          <p:nvPr/>
        </p:nvGrpSpPr>
        <p:grpSpPr>
          <a:xfrm>
            <a:off x="5601977" y="-577597"/>
            <a:ext cx="4771421" cy="1334347"/>
            <a:chOff x="6657277" y="-134192"/>
            <a:chExt cx="5800414" cy="1900238"/>
          </a:xfrm>
        </p:grpSpPr>
        <p:sp>
          <p:nvSpPr>
            <p:cNvPr id="347" name="Google Shape;347;p29"/>
            <p:cNvSpPr/>
            <p:nvPr/>
          </p:nvSpPr>
          <p:spPr>
            <a:xfrm flipH="1" rot="10800000">
              <a:off x="7789546" y="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8" name="Google Shape;348;p29"/>
            <p:cNvSpPr/>
            <p:nvPr/>
          </p:nvSpPr>
          <p:spPr>
            <a:xfrm flipH="1" rot="10800000">
              <a:off x="6657277" y="-134192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49" name="Google Shape;349;p29"/>
          <p:cNvSpPr/>
          <p:nvPr/>
        </p:nvSpPr>
        <p:spPr>
          <a:xfrm>
            <a:off x="137051" y="144408"/>
            <a:ext cx="39759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b="1" lang="en-GB" sz="2700">
                <a:solidFill>
                  <a:schemeClr val="dk1"/>
                </a:solidFill>
              </a:rPr>
              <a:t>  </a:t>
            </a:r>
            <a:r>
              <a:rPr b="1" lang="en-GB" sz="2700">
                <a:solidFill>
                  <a:schemeClr val="dk1"/>
                </a:solidFill>
              </a:rPr>
              <a:t>Reference</a:t>
            </a:r>
            <a:endParaRPr b="1" sz="2700">
              <a:solidFill>
                <a:schemeClr val="dk1"/>
              </a:solidFill>
            </a:endParaRPr>
          </a:p>
        </p:txBody>
      </p:sp>
      <p:grpSp>
        <p:nvGrpSpPr>
          <p:cNvPr descr="e7d195523061f1c0fda85adc49485b5133e39aed4681e058B35845698FB33BB22C585A06B43FE2181CF3FC715F4934ABBD00F3FDBB9F91179068436C1EE561747A2C31F8895A2AB92F045694131F45148B8DF863A8901964B39381BF8AB915CF99ADF832DC73AE3BABF542694DE32461DFE4A638CF2916D7C688A8A689AE461A98D6E2F1693E24EB" id="350" name="Google Shape;350;p29"/>
          <p:cNvGrpSpPr/>
          <p:nvPr/>
        </p:nvGrpSpPr>
        <p:grpSpPr>
          <a:xfrm rot="10800000">
            <a:off x="-1263788" y="4207408"/>
            <a:ext cx="4771421" cy="1425179"/>
            <a:chOff x="6809677" y="18208"/>
            <a:chExt cx="5800414" cy="1900238"/>
          </a:xfrm>
        </p:grpSpPr>
        <p:sp>
          <p:nvSpPr>
            <p:cNvPr id="351" name="Google Shape;351;p29"/>
            <p:cNvSpPr/>
            <p:nvPr/>
          </p:nvSpPr>
          <p:spPr>
            <a:xfrm flipH="1" rot="10800000">
              <a:off x="7941946" y="152400"/>
              <a:ext cx="4668145" cy="1130300"/>
            </a:xfrm>
            <a:custGeom>
              <a:rect b="b" l="l" r="r" t="t"/>
              <a:pathLst>
                <a:path extrusionOk="0" h="450" w="1828">
                  <a:moveTo>
                    <a:pt x="1828" y="450"/>
                  </a:moveTo>
                  <a:cubicBezTo>
                    <a:pt x="1828" y="0"/>
                    <a:pt x="1828" y="0"/>
                    <a:pt x="1828" y="0"/>
                  </a:cubicBezTo>
                  <a:cubicBezTo>
                    <a:pt x="624" y="0"/>
                    <a:pt x="624" y="0"/>
                    <a:pt x="624" y="0"/>
                  </a:cubicBezTo>
                  <a:cubicBezTo>
                    <a:pt x="542" y="0"/>
                    <a:pt x="463" y="30"/>
                    <a:pt x="402" y="85"/>
                  </a:cubicBezTo>
                  <a:cubicBezTo>
                    <a:pt x="0" y="450"/>
                    <a:pt x="0" y="450"/>
                    <a:pt x="0" y="450"/>
                  </a:cubicBezTo>
                  <a:lnTo>
                    <a:pt x="1828" y="450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2" name="Google Shape;352;p29"/>
            <p:cNvSpPr/>
            <p:nvPr/>
          </p:nvSpPr>
          <p:spPr>
            <a:xfrm flipH="1" rot="10800000">
              <a:off x="6809677" y="18208"/>
              <a:ext cx="5800414" cy="1900238"/>
            </a:xfrm>
            <a:custGeom>
              <a:rect b="b" l="l" r="r" t="t"/>
              <a:pathLst>
                <a:path extrusionOk="0" h="757" w="2371">
                  <a:moveTo>
                    <a:pt x="251" y="757"/>
                  </a:moveTo>
                  <a:cubicBezTo>
                    <a:pt x="773" y="285"/>
                    <a:pt x="773" y="285"/>
                    <a:pt x="773" y="285"/>
                  </a:cubicBezTo>
                  <a:cubicBezTo>
                    <a:pt x="866" y="201"/>
                    <a:pt x="987" y="154"/>
                    <a:pt x="1114" y="154"/>
                  </a:cubicBezTo>
                  <a:cubicBezTo>
                    <a:pt x="2371" y="154"/>
                    <a:pt x="2371" y="154"/>
                    <a:pt x="2371" y="154"/>
                  </a:cubicBezTo>
                  <a:cubicBezTo>
                    <a:pt x="2371" y="0"/>
                    <a:pt x="2371" y="0"/>
                    <a:pt x="2371" y="0"/>
                  </a:cubicBezTo>
                  <a:cubicBezTo>
                    <a:pt x="1074" y="0"/>
                    <a:pt x="1074" y="0"/>
                    <a:pt x="1074" y="0"/>
                  </a:cubicBezTo>
                  <a:cubicBezTo>
                    <a:pt x="909" y="0"/>
                    <a:pt x="750" y="61"/>
                    <a:pt x="627" y="172"/>
                  </a:cubicBezTo>
                  <a:cubicBezTo>
                    <a:pt x="0" y="757"/>
                    <a:pt x="0" y="757"/>
                    <a:pt x="0" y="757"/>
                  </a:cubicBezTo>
                  <a:lnTo>
                    <a:pt x="251" y="757"/>
                  </a:lnTo>
                  <a:close/>
                </a:path>
              </a:pathLst>
            </a:custGeom>
            <a:gradFill>
              <a:gsLst>
                <a:gs pos="0">
                  <a:srgbClr val="FFFFFF">
                    <a:alpha val="32941"/>
                  </a:srgbClr>
                </a:gs>
                <a:gs pos="100000">
                  <a:srgbClr val="464646">
                    <a:alpha val="12941"/>
                  </a:srgbClr>
                </a:gs>
              </a:gsLst>
              <a:lin ang="2700006" scaled="0"/>
            </a:gra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3" name="Google Shape;35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" y="-1"/>
            <a:ext cx="9144004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30"/>
          <p:cNvSpPr txBox="1"/>
          <p:nvPr/>
        </p:nvSpPr>
        <p:spPr>
          <a:xfrm>
            <a:off x="969380" y="1753567"/>
            <a:ext cx="4253700" cy="6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600">
                <a:solidFill>
                  <a:srgbClr val="3B3B3B"/>
                </a:solidFill>
                <a:latin typeface="Arial"/>
                <a:ea typeface="Arial"/>
                <a:cs typeface="Arial"/>
                <a:sym typeface="Arial"/>
              </a:rPr>
              <a:t>THANKS！</a:t>
            </a:r>
            <a:endParaRPr sz="1100"/>
          </a:p>
        </p:txBody>
      </p:sp>
      <p:sp>
        <p:nvSpPr>
          <p:cNvPr id="361" name="Google Shape;361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